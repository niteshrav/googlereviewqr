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1">
                <a:solidFill>
                  <a:srgbClr val="1E88E5"/>
                </a:solidFill>
                <a:latin typeface="Segoe UI"/>
              </a:rPr>
              <a:t>SLIDE 1 — 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"/>
            <a:ext cx="1124712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600" b="1">
                <a:solidFill>
                  <a:srgbClr val="0A2E50"/>
                </a:solidFill>
                <a:latin typeface="Segoe UI"/>
              </a:rPr>
              <a:t>trustTap: QR feedback &amp; reputation for local businesses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56248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900" b="0">
                <a:solidFill>
                  <a:srgbClr val="5A6B7C"/>
                </a:solidFill>
                <a:latin typeface="Segoe UI"/>
              </a:rPr>
              <a:t>Commiters trustTap  ·  Product walkthrough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556248"/>
            <a:ext cx="1399032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900" b="0">
                <a:solidFill>
                  <a:srgbClr val="5A6B7C"/>
                </a:solidFill>
                <a:latin typeface="Segoe UI"/>
              </a:rPr>
              <a:t>1 /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34440"/>
            <a:ext cx="5120640" cy="51206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000" b="1">
                <a:solidFill>
                  <a:srgbClr val="1E88E5"/>
                </a:solidFill>
                <a:latin typeface="Segoe UI"/>
              </a:rPr>
              <a:t>PRODUCT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A2E50"/>
                </a:solidFill>
                <a:latin typeface="Segoe UI"/>
              </a:rPr>
              <a:t>•  Commiters trustTap + new restaurant plan trustTap DinePro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000" b="1">
                <a:solidFill>
                  <a:srgbClr val="1E88E5"/>
                </a:solidFill>
                <a:latin typeface="Segoe UI"/>
              </a:rPr>
              <a:t>ONE LINE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A2E50"/>
                </a:solidFill>
                <a:latin typeface="Segoe UI"/>
              </a:rPr>
              <a:t>•  QR-based customer feedback and Google review tool for local businesses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000" b="1">
                <a:solidFill>
                  <a:srgbClr val="1E88E5"/>
                </a:solidFill>
                <a:latin typeface="Segoe UI"/>
              </a:rPr>
              <a:t>PROBLEM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A2E50"/>
                </a:solidFill>
                <a:latin typeface="Segoe UI"/>
              </a:rPr>
              <a:t>•  Owners learn about unhappy customers only after a public Google review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A2E50"/>
                </a:solidFill>
                <a:latin typeface="Segoe UI"/>
              </a:rPr>
              <a:t>•  Static QR boards only print a link: no private recovery, no alerts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000" b="1">
                <a:solidFill>
                  <a:srgbClr val="1E88E5"/>
                </a:solidFill>
                <a:latin typeface="Segoe UI"/>
              </a:rPr>
              <a:t>TARGET USERS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A2E50"/>
                </a:solidFill>
                <a:latin typeface="Segoe UI"/>
              </a:rPr>
              <a:t>•  Cafés, restaurants, barbers, local shops (pilot in Udaipur)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A2E50"/>
                </a:solidFill>
                <a:latin typeface="Segoe UI"/>
              </a:rPr>
              <a:t>•  Restaurants wanting table-level feedback (DinePro)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000" b="1">
                <a:solidFill>
                  <a:srgbClr val="1E88E5"/>
                </a:solidFill>
                <a:latin typeface="Segoe UI"/>
              </a:rPr>
              <a:t>PURPOSE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A2E50"/>
                </a:solidFill>
                <a:latin typeface="Segoe UI"/>
              </a:rPr>
              <a:t>•  Easy Google reviews for every customer (never filtered by rating)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A2E50"/>
                </a:solidFill>
                <a:latin typeface="Segoe UI"/>
              </a:rPr>
              <a:t>•  Private feedback + instant owner alerts on low ratings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A2E50"/>
                </a:solidFill>
                <a:latin typeface="Segoe UI"/>
              </a:rPr>
              <a:t>•  Micro-SaaS + lead engine for Commiters services</a:t>
            </a:r>
          </a:p>
        </p:txBody>
      </p:sp>
      <p:pic>
        <p:nvPicPr>
          <p:cNvPr id="10" name="Picture 9" descr="01-home-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280160"/>
            <a:ext cx="4343400" cy="2714625"/>
          </a:xfrm>
          <a:prstGeom prst="rect">
            <a:avLst/>
          </a:prstGeom>
          <a:ln w="9525">
            <a:solidFill>
              <a:srgbClr val="D5DEE7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5852160" y="4049649"/>
            <a:ext cx="434340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/>
            <a:r>
              <a:rPr sz="900" b="0">
                <a:solidFill>
                  <a:srgbClr val="5A6B7C"/>
                </a:solidFill>
                <a:latin typeface="Segoe UI"/>
              </a:rPr>
              <a:t>Homepage — brand, headline and product visual  (/)</a:t>
            </a:r>
          </a:p>
        </p:txBody>
      </p:sp>
      <p:pic>
        <p:nvPicPr>
          <p:cNvPr id="12" name="Picture 11" descr="05-mobile-qr-land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0" y="1280160"/>
            <a:ext cx="1463040" cy="3166168"/>
          </a:xfrm>
          <a:prstGeom prst="rect">
            <a:avLst/>
          </a:prstGeom>
          <a:ln w="9525">
            <a:solidFill>
              <a:srgbClr val="D5DEE7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10332720" y="4501192"/>
            <a:ext cx="146304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/>
            <a:r>
              <a:rPr sz="900" b="0">
                <a:solidFill>
                  <a:srgbClr val="5A6B7C"/>
                </a:solidFill>
                <a:latin typeface="Segoe UI"/>
              </a:rPr>
              <a:t>Customer QR page on phone  (/r/cafe-edelweiss)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1">
                <a:solidFill>
                  <a:srgbClr val="1E88E5"/>
                </a:solidFill>
                <a:latin typeface="Segoe UI"/>
              </a:rPr>
              <a:t>SLIDE 2 — KEY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"/>
            <a:ext cx="1124712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600" b="1">
                <a:solidFill>
                  <a:srgbClr val="0A2E50"/>
                </a:solidFill>
                <a:latin typeface="Segoe UI"/>
              </a:rPr>
              <a:t>What the product does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56248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900" b="0">
                <a:solidFill>
                  <a:srgbClr val="5A6B7C"/>
                </a:solidFill>
                <a:latin typeface="Segoe UI"/>
              </a:rPr>
              <a:t>Commiters trustTap  ·  Product walkthrough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556248"/>
            <a:ext cx="1399032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900" b="0">
                <a:solidFill>
                  <a:srgbClr val="5A6B7C"/>
                </a:solidFill>
                <a:latin typeface="Segoe UI"/>
              </a:rPr>
              <a:t>2 /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34440"/>
            <a:ext cx="5394960" cy="51206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000" b="1">
                <a:solidFill>
                  <a:srgbClr val="1E88E5"/>
                </a:solidFill>
                <a:latin typeface="Segoe UI"/>
              </a:rPr>
              <a:t>CUSTOMER SIDE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A2E50"/>
                </a:solidFill>
                <a:latin typeface="Segoe UI"/>
              </a:rPr>
              <a:t>•  QR landing page per business (/r/{slug}), mobile-first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A2E50"/>
                </a:solidFill>
                <a:latin typeface="Segoe UI"/>
              </a:rPr>
              <a:t>•  Google review button shown to everyone — no gating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A2E50"/>
                </a:solidFill>
                <a:latin typeface="Segoe UI"/>
              </a:rPr>
              <a:t>•  Private feedback: stars, comment, optional name/phone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000" b="1">
                <a:solidFill>
                  <a:srgbClr val="1E88E5"/>
                </a:solidFill>
                <a:latin typeface="Segoe UI"/>
              </a:rPr>
              <a:t>OWNER &amp; ADMIN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A2E50"/>
                </a:solidFill>
                <a:latin typeface="Segoe UI"/>
              </a:rPr>
              <a:t>•  Alerts on ≤3★: WhatsApp/SMS (Twilio) + email backup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A2E50"/>
                </a:solidFill>
                <a:latin typeface="Segoe UI"/>
              </a:rPr>
              <a:t>•  Admin: businesses, feedback log, CSV export, QR PNG download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A2E50"/>
                </a:solidFill>
                <a:latin typeface="Segoe UI"/>
              </a:rPr>
              <a:t>•  Weekly owner report (Monday cron + “Send report now”)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A2E50"/>
                </a:solidFill>
                <a:latin typeface="Segoe UI"/>
              </a:rPr>
              <a:t>•  Plans &amp; billing: Pilot / Core ₹499 / Premium ₹999 + ₹2,999 setup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A2E50"/>
                </a:solidFill>
                <a:latin typeface="Segoe UI"/>
              </a:rPr>
              <a:t>•  Online signup wizard with Razorpay or cash/UPI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A2E50"/>
                </a:solidFill>
                <a:latin typeface="Segoe UI"/>
              </a:rPr>
              <a:t>•  Printables: staff one-pager, UPI invoice, case study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000" b="1">
                <a:solidFill>
                  <a:srgbClr val="1E88E5"/>
                </a:solidFill>
                <a:latin typeface="Segoe UI"/>
              </a:rPr>
              <a:t>DINEPRO (RESTAURANTS)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A2E50"/>
                </a:solidFill>
                <a:latin typeface="Segoe UI"/>
              </a:rPr>
              <a:t>•  Unique QR per table · food/service/ambience/wait ratings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A2E50"/>
                </a:solidFill>
                <a:latin typeface="Segoe UI"/>
              </a:rPr>
              <a:t>•  Live Floor, issues, Table Health, menu ratings, analytics</a:t>
            </a:r>
          </a:p>
        </p:txBody>
      </p:sp>
      <p:pic>
        <p:nvPicPr>
          <p:cNvPr id="10" name="Picture 9" descr="09-admin-busines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3448" y="1280160"/>
            <a:ext cx="3803904" cy="2377440"/>
          </a:xfrm>
          <a:prstGeom prst="rect">
            <a:avLst/>
          </a:prstGeom>
          <a:ln w="9525">
            <a:solidFill>
              <a:srgbClr val="D5DEE7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6126480" y="3712464"/>
            <a:ext cx="557784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/>
            <a:r>
              <a:rPr sz="900" b="0">
                <a:solidFill>
                  <a:srgbClr val="5A6B7C"/>
                </a:solidFill>
                <a:latin typeface="Segoe UI"/>
              </a:rPr>
              <a:t>Admin → Businesses: QR, plan/billing badges, actions  (/admin/businesses)</a:t>
            </a:r>
          </a:p>
        </p:txBody>
      </p:sp>
      <p:pic>
        <p:nvPicPr>
          <p:cNvPr id="12" name="Picture 11" descr="14-dinepro-qr-manag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2904" y="3977639"/>
            <a:ext cx="3364992" cy="2103120"/>
          </a:xfrm>
          <a:prstGeom prst="rect">
            <a:avLst/>
          </a:prstGeom>
          <a:ln w="9525">
            <a:solidFill>
              <a:srgbClr val="D5DEE7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6126480" y="6135623"/>
            <a:ext cx="557784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/>
            <a:r>
              <a:rPr sz="900" b="0">
                <a:solidFill>
                  <a:srgbClr val="5A6B7C"/>
                </a:solidFill>
                <a:latin typeface="Segoe UI"/>
              </a:rPr>
              <a:t>DinePro QR Manager: per-table download / print / regenerate  (/admin/dinepro/qr)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1">
                <a:solidFill>
                  <a:srgbClr val="1E88E5"/>
                </a:solidFill>
                <a:latin typeface="Segoe UI"/>
              </a:rPr>
              <a:t>SLIDE 3 —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"/>
            <a:ext cx="1124712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600" b="1">
                <a:solidFill>
                  <a:srgbClr val="0A2E50"/>
                </a:solidFill>
                <a:latin typeface="Segoe UI"/>
              </a:rPr>
              <a:t>From QR scan to owner action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56248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900" b="0">
                <a:solidFill>
                  <a:srgbClr val="5A6B7C"/>
                </a:solidFill>
                <a:latin typeface="Segoe UI"/>
              </a:rPr>
              <a:t>Commiters trustTap  ·  Product walkthrough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556248"/>
            <a:ext cx="1399032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900" b="0">
                <a:solidFill>
                  <a:srgbClr val="5A6B7C"/>
                </a:solidFill>
                <a:latin typeface="Segoe UI"/>
              </a:rPr>
              <a:t>3 /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34440"/>
            <a:ext cx="6309360" cy="51206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000" b="1">
                <a:solidFill>
                  <a:srgbClr val="1E88E5"/>
                </a:solidFill>
                <a:latin typeface="Segoe UI"/>
              </a:rPr>
              <a:t>CUSTOMER JOURNEY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A2E50"/>
                </a:solidFill>
                <a:latin typeface="Segoe UI"/>
              </a:rPr>
              <a:t>•  1. Scan QR at the counter → page shows business name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A2E50"/>
                </a:solidFill>
                <a:latin typeface="Segoe UI"/>
              </a:rPr>
              <a:t>•  2. Tap “Leave a Google Review” (tap logged) or “Send private feedback”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A2E50"/>
                </a:solidFill>
                <a:latin typeface="Segoe UI"/>
              </a:rPr>
              <a:t>•  3. Private rating ≤3★ → automatic alert to owner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A2E50"/>
                </a:solidFill>
                <a:latin typeface="Segoe UI"/>
              </a:rPr>
              <a:t>•  4. Entry appears in admin log and weekly report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000" b="1">
                <a:solidFill>
                  <a:srgbClr val="1E88E5"/>
                </a:solidFill>
                <a:latin typeface="Segoe UI"/>
              </a:rPr>
              <a:t>ADMIN / OWNER WORKFLOW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A2E50"/>
                </a:solidFill>
                <a:latin typeface="Segoe UI"/>
              </a:rPr>
              <a:t>•  Create business (or owner self-signup at /get-started)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A2E50"/>
                </a:solidFill>
                <a:latin typeface="Segoe UI"/>
              </a:rPr>
              <a:t>•  Print QR + staff one-pager → monitor feedback, Google taps, billing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A2E50"/>
                </a:solidFill>
                <a:latin typeface="Segoe UI"/>
              </a:rPr>
              <a:t>•  Send invoice, mark paid, send weekly reports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000" b="1">
                <a:solidFill>
                  <a:srgbClr val="1E88E5"/>
                </a:solidFill>
                <a:latin typeface="Segoe UI"/>
              </a:rPr>
              <a:t>DINEPRO WORKFLOW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A2E50"/>
                </a:solidFill>
                <a:latin typeface="Segoe UI"/>
              </a:rPr>
              <a:t>•  Setup wizard: branch → floor → tables → QR codes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A2E50"/>
                </a:solidFill>
                <a:latin typeface="Segoe UI"/>
              </a:rPr>
              <a:t>•  Guest scans table QR → rates food, service, ambience, wait time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A2E50"/>
                </a:solidFill>
                <a:latin typeface="Segoe UI"/>
              </a:rPr>
              <a:t>•  Issue opened + manager alerted → resolved from Live Floor / Issues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000" b="1">
                <a:solidFill>
                  <a:srgbClr val="1E88E5"/>
                </a:solidFill>
                <a:latin typeface="Segoe UI"/>
              </a:rPr>
              <a:t>MODULES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A2E50"/>
                </a:solidFill>
                <a:latin typeface="Segoe UI"/>
              </a:rPr>
              <a:t>•  QR · feedback · alerts · reports · billing &amp; payments · admin · DinePro</a:t>
            </a:r>
          </a:p>
        </p:txBody>
      </p:sp>
      <p:pic>
        <p:nvPicPr>
          <p:cNvPr id="10" name="Picture 9" descr="06-mobile-private-feedb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1833" y="1280160"/>
            <a:ext cx="2112654" cy="4572000"/>
          </a:xfrm>
          <a:prstGeom prst="rect">
            <a:avLst/>
          </a:prstGeom>
          <a:ln w="9525">
            <a:solidFill>
              <a:srgbClr val="D5DEE7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7040880" y="5907024"/>
            <a:ext cx="219456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/>
            <a:r>
              <a:rPr sz="900" b="0">
                <a:solidFill>
                  <a:srgbClr val="5A6B7C"/>
                </a:solidFill>
                <a:latin typeface="Segoe UI"/>
              </a:rPr>
              <a:t>Private feedback form  (/r/cafe-edelweiss/feedback)</a:t>
            </a:r>
          </a:p>
        </p:txBody>
      </p:sp>
      <p:pic>
        <p:nvPicPr>
          <p:cNvPr id="12" name="Picture 11" descr="07-mobile-dine-gu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4993" y="1280160"/>
            <a:ext cx="2112654" cy="4572000"/>
          </a:xfrm>
          <a:prstGeom prst="rect">
            <a:avLst/>
          </a:prstGeom>
          <a:ln w="9525">
            <a:solidFill>
              <a:srgbClr val="D5DEE7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9464040" y="5907024"/>
            <a:ext cx="219456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/>
            <a:r>
              <a:rPr sz="900" b="0">
                <a:solidFill>
                  <a:srgbClr val="5A6B7C"/>
                </a:solidFill>
                <a:latin typeface="Segoe UI"/>
              </a:rPr>
              <a:t>DinePro table guest form  (/dine/the-toast-house/udaipur/r01)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1">
                <a:solidFill>
                  <a:srgbClr val="1E88E5"/>
                </a:solidFill>
                <a:latin typeface="Segoe UI"/>
              </a:rPr>
              <a:t>SLIDE 4 — TECHNOLOGY &amp;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"/>
            <a:ext cx="1124712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600" b="1">
                <a:solidFill>
                  <a:srgbClr val="0A2E50"/>
                </a:solidFill>
                <a:latin typeface="Segoe UI"/>
              </a:rPr>
              <a:t>Built on a simple, modern stack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56248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900" b="0">
                <a:solidFill>
                  <a:srgbClr val="5A6B7C"/>
                </a:solidFill>
                <a:latin typeface="Segoe UI"/>
              </a:rPr>
              <a:t>Commiters trustTap  ·  Product walkthrough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556248"/>
            <a:ext cx="1399032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900" b="0">
                <a:solidFill>
                  <a:srgbClr val="5A6B7C"/>
                </a:solidFill>
                <a:latin typeface="Segoe UI"/>
              </a:rPr>
              <a:t>4 /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34440"/>
            <a:ext cx="5394960" cy="51206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000" b="1">
                <a:solidFill>
                  <a:srgbClr val="1E88E5"/>
                </a:solidFill>
                <a:latin typeface="Segoe UI"/>
              </a:rPr>
              <a:t>FRONTEND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A2E50"/>
                </a:solidFill>
                <a:latin typeface="Segoe UI"/>
              </a:rPr>
              <a:t>•  Next.js 15 (App Router), React 19, TypeScript, Tailwind CSS 4, Framer Motion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000" b="1">
                <a:solidFill>
                  <a:srgbClr val="1E88E5"/>
                </a:solidFill>
                <a:latin typeface="Segoe UI"/>
              </a:rPr>
              <a:t>BACKEND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A2E50"/>
                </a:solidFill>
                <a:latin typeface="Segoe UI"/>
              </a:rPr>
              <a:t>•  Next.js API routes → backend/ services, Zod validation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000" b="1">
                <a:solidFill>
                  <a:srgbClr val="1E88E5"/>
                </a:solidFill>
                <a:latin typeface="Segoe UI"/>
              </a:rPr>
              <a:t>DATABASE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A2E50"/>
                </a:solidFill>
                <a:latin typeface="Segoe UI"/>
              </a:rPr>
              <a:t>•  PostgreSQL with Prisma ORM + migrations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000" b="1">
                <a:solidFill>
                  <a:srgbClr val="1E88E5"/>
                </a:solidFill>
                <a:latin typeface="Segoe UI"/>
              </a:rPr>
              <a:t>INTEGRATIONS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A2E50"/>
                </a:solidFill>
                <a:latin typeface="Segoe UI"/>
              </a:rPr>
              <a:t>•  Razorpay (payments) · Twilio (WhatsApp/SMS) · SMTP via Nodemailer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A2E50"/>
                </a:solidFill>
                <a:latin typeface="Segoe UI"/>
              </a:rPr>
              <a:t>•  qrcode library for PNGs · Google review links (no Google API)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000" b="1">
                <a:solidFill>
                  <a:srgbClr val="1E88E5"/>
                </a:solidFill>
                <a:latin typeface="Segoe UI"/>
              </a:rPr>
              <a:t>AUTHENTICATION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A2E50"/>
                </a:solidFill>
                <a:latin typeface="Segoe UI"/>
              </a:rPr>
              <a:t>•  Secure session cookie; platform admin secret; owner password from signup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000" b="1">
                <a:solidFill>
                  <a:srgbClr val="1E88E5"/>
                </a:solidFill>
                <a:latin typeface="Segoe UI"/>
              </a:rPr>
              <a:t>HOSTING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A2E50"/>
                </a:solidFill>
                <a:latin typeface="Segoe UI"/>
              </a:rPr>
              <a:t>•  Vercel (Mumbai region) + Monday cron · Postgres on Neon/Supabase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A2E50"/>
                </a:solidFill>
                <a:latin typeface="Segoe UI"/>
              </a:rPr>
              <a:t>•  Target domain: trusttap.commiters.com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000" b="1">
                <a:solidFill>
                  <a:srgbClr val="1E88E5"/>
                </a:solidFill>
                <a:latin typeface="Segoe UI"/>
              </a:rPr>
              <a:t>QUALITY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A2E50"/>
                </a:solidFill>
                <a:latin typeface="Segoe UI"/>
              </a:rPr>
              <a:t>•  Vitest unit tests (127 passing) · Playwright E2E smoke · GitHub Actions CI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280160"/>
            <a:ext cx="5577840" cy="4937760"/>
          </a:xfrm>
          <a:prstGeom prst="rect">
            <a:avLst/>
          </a:prstGeom>
          <a:solidFill>
            <a:srgbClr val="FFFFFF"/>
          </a:solidFill>
          <a:ln>
            <a:solidFill>
              <a:srgbClr val="D5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371600"/>
            <a:ext cx="52120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>
                <a:solidFill>
                  <a:srgbClr val="1E88E5"/>
                </a:solidFill>
                <a:latin typeface="Segoe UI"/>
              </a:rPr>
              <a:t>Simple architecture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1828800"/>
            <a:ext cx="256032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1E8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A2E50"/>
                </a:solidFill>
                <a:latin typeface="Segoe UI"/>
              </a:rPr>
              <a:t>Customer phone / Admin browser</a:t>
            </a:r>
          </a:p>
          <a:p>
            <a:pPr algn="ctr"/>
            <a:r>
              <a:rPr sz="900">
                <a:solidFill>
                  <a:srgbClr val="5A6B7C"/>
                </a:solidFill>
                <a:latin typeface="Segoe UI"/>
              </a:rPr>
              <a:t>QR scan · dashboard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2880360"/>
            <a:ext cx="2560320" cy="685800"/>
          </a:xfrm>
          <a:prstGeom prst="roundRect">
            <a:avLst/>
          </a:prstGeom>
          <a:solidFill>
            <a:srgbClr val="0A2E50"/>
          </a:solidFill>
          <a:ln>
            <a:solidFill>
              <a:srgbClr val="0A2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Next.js app on Vercel</a:t>
            </a:r>
          </a:p>
          <a:p>
            <a:pPr algn="ctr"/>
            <a:r>
              <a:rPr sz="900">
                <a:solidFill>
                  <a:srgbClr val="FFFFFF"/>
                </a:solidFill>
                <a:latin typeface="Segoe UI"/>
              </a:rPr>
              <a:t>pages + API routes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35240" y="3931920"/>
            <a:ext cx="256032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1E8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A2E50"/>
                </a:solidFill>
                <a:latin typeface="Segoe UI"/>
              </a:rPr>
              <a:t>Service layer (backend/)</a:t>
            </a:r>
          </a:p>
          <a:p>
            <a:pPr algn="ctr"/>
            <a:r>
              <a:rPr sz="900">
                <a:solidFill>
                  <a:srgbClr val="5A6B7C"/>
                </a:solidFill>
                <a:latin typeface="Segoe UI"/>
              </a:rPr>
              <a:t>feedback · alerts · reports · billing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35240" y="4983480"/>
            <a:ext cx="256032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1E8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A2E50"/>
                </a:solidFill>
                <a:latin typeface="Segoe UI"/>
              </a:rPr>
              <a:t>PostgreSQL (Prisma)</a:t>
            </a:r>
          </a:p>
          <a:p>
            <a:pPr algn="ctr"/>
            <a:r>
              <a:rPr sz="900">
                <a:solidFill>
                  <a:srgbClr val="5A6B7C"/>
                </a:solidFill>
                <a:latin typeface="Segoe UI"/>
              </a:rPr>
              <a:t>businesses · feedback · plans · DinePro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915400" y="2514600"/>
            <a:ext cx="0" cy="365760"/>
          </a:xfrm>
          <a:prstGeom prst="line">
            <a:avLst/>
          </a:prstGeom>
          <a:ln w="19050">
            <a:solidFill>
              <a:srgbClr val="5A6B7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915400" y="3566160"/>
            <a:ext cx="0" cy="365760"/>
          </a:xfrm>
          <a:prstGeom prst="line">
            <a:avLst/>
          </a:prstGeom>
          <a:ln w="19050">
            <a:solidFill>
              <a:srgbClr val="5A6B7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915400" y="4617720"/>
            <a:ext cx="0" cy="365760"/>
          </a:xfrm>
          <a:prstGeom prst="line">
            <a:avLst/>
          </a:prstGeom>
          <a:ln w="19050">
            <a:solidFill>
              <a:srgbClr val="5A6B7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10378440" y="3246120"/>
            <a:ext cx="118872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1E8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A2E50"/>
                </a:solidFill>
                <a:latin typeface="Segoe UI"/>
              </a:rPr>
              <a:t>Twilio</a:t>
            </a:r>
          </a:p>
          <a:p>
            <a:pPr algn="ctr"/>
            <a:r>
              <a:rPr sz="900">
                <a:solidFill>
                  <a:srgbClr val="5A6B7C"/>
                </a:solidFill>
                <a:latin typeface="Segoe UI"/>
              </a:rPr>
              <a:t>WhatsApp/SMS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378440" y="3931920"/>
            <a:ext cx="118872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1E8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A2E50"/>
                </a:solidFill>
                <a:latin typeface="Segoe UI"/>
              </a:rPr>
              <a:t>SMTP</a:t>
            </a:r>
          </a:p>
          <a:p>
            <a:pPr algn="ctr"/>
            <a:r>
              <a:rPr sz="900">
                <a:solidFill>
                  <a:srgbClr val="5A6B7C"/>
                </a:solidFill>
                <a:latin typeface="Segoe UI"/>
              </a:rPr>
              <a:t>email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378440" y="4617720"/>
            <a:ext cx="118872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1E8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A2E50"/>
                </a:solidFill>
                <a:latin typeface="Segoe UI"/>
              </a:rPr>
              <a:t>Razorpay</a:t>
            </a:r>
          </a:p>
          <a:p>
            <a:pPr algn="ctr"/>
            <a:r>
              <a:rPr sz="900">
                <a:solidFill>
                  <a:srgbClr val="5A6B7C"/>
                </a:solidFill>
                <a:latin typeface="Segoe UI"/>
              </a:rPr>
              <a:t>payments</a:t>
            </a:r>
          </a:p>
        </p:txBody>
      </p:sp>
      <p:cxnSp>
        <p:nvCxnSpPr>
          <p:cNvPr id="22" name="Connector 21"/>
          <p:cNvCxnSpPr/>
          <p:nvPr/>
        </p:nvCxnSpPr>
        <p:spPr>
          <a:xfrm flipV="1">
            <a:off x="10195560" y="3529584"/>
            <a:ext cx="182880" cy="740664"/>
          </a:xfrm>
          <a:prstGeom prst="line">
            <a:avLst/>
          </a:prstGeom>
          <a:ln w="19050">
            <a:solidFill>
              <a:srgbClr val="5A6B7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0195560" y="4215384"/>
            <a:ext cx="182880" cy="54864"/>
          </a:xfrm>
          <a:prstGeom prst="line">
            <a:avLst/>
          </a:prstGeom>
          <a:ln w="19050">
            <a:solidFill>
              <a:srgbClr val="5A6B7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0195560" y="4270248"/>
            <a:ext cx="182880" cy="630936"/>
          </a:xfrm>
          <a:prstGeom prst="line">
            <a:avLst/>
          </a:prstGeom>
          <a:ln w="19050">
            <a:solidFill>
              <a:srgbClr val="5A6B7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355080" y="3017520"/>
            <a:ext cx="10972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1E8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A2E50"/>
                </a:solidFill>
                <a:latin typeface="Segoe UI"/>
              </a:rPr>
              <a:t>Vercel cron</a:t>
            </a:r>
          </a:p>
          <a:p>
            <a:pPr algn="ctr"/>
            <a:r>
              <a:rPr sz="900">
                <a:solidFill>
                  <a:srgbClr val="5A6B7C"/>
                </a:solidFill>
                <a:latin typeface="Segoe UI"/>
              </a:rPr>
              <a:t>Mon weekly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452360" y="3300984"/>
            <a:ext cx="182880" cy="0"/>
          </a:xfrm>
          <a:prstGeom prst="line">
            <a:avLst/>
          </a:prstGeom>
          <a:ln w="19050">
            <a:solidFill>
              <a:srgbClr val="5A6B7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1">
                <a:solidFill>
                  <a:srgbClr val="1E88E5"/>
                </a:solidFill>
                <a:latin typeface="Segoe UI"/>
              </a:rPr>
              <a:t>SLIDE 5 — BUSINESS VALUE &amp; CURRENT 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"/>
            <a:ext cx="1124712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600" b="1">
                <a:solidFill>
                  <a:srgbClr val="0A2E50"/>
                </a:solidFill>
                <a:latin typeface="Segoe UI"/>
              </a:rPr>
              <a:t>Why it matters and where it stands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56248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900" b="0">
                <a:solidFill>
                  <a:srgbClr val="5A6B7C"/>
                </a:solidFill>
                <a:latin typeface="Segoe UI"/>
              </a:rPr>
              <a:t>Commiters trustTap  ·  Product walkthrough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556248"/>
            <a:ext cx="1399032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900" b="0">
                <a:solidFill>
                  <a:srgbClr val="5A6B7C"/>
                </a:solidFill>
                <a:latin typeface="Segoe UI"/>
              </a:rPr>
              <a:t>5 /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34440"/>
            <a:ext cx="5394960" cy="51206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000" b="1">
                <a:solidFill>
                  <a:srgbClr val="1E88E5"/>
                </a:solidFill>
                <a:latin typeface="Segoe UI"/>
              </a:rPr>
              <a:t>BUSINESS VALUE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A2E50"/>
                </a:solidFill>
                <a:latin typeface="Segoe UI"/>
              </a:rPr>
              <a:t>•  Owners hear about unhappy customers privately, before a public review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A2E50"/>
                </a:solidFill>
                <a:latin typeface="Segoe UI"/>
              </a:rPr>
              <a:t>•  Google-compliant: no review gating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A2E50"/>
                </a:solidFill>
                <a:latin typeface="Segoe UI"/>
              </a:rPr>
              <a:t>•  Recurring revenue (setup + monthly) and upsell path for Commiters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A2E50"/>
                </a:solidFill>
                <a:latin typeface="Segoe UI"/>
              </a:rPr>
              <a:t>•  A live system with alerts, log and reports — not a static poster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000" b="1">
                <a:solidFill>
                  <a:srgbClr val="1E88E5"/>
                </a:solidFill>
                <a:latin typeface="Segoe UI"/>
              </a:rPr>
              <a:t>CURRENT STATUS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A2E50"/>
                </a:solidFill>
                <a:latin typeface="Segoe UI"/>
              </a:rPr>
              <a:t>•  Phase 1 pilot product: complete · Phase 2 monetisation: delivered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A2E50"/>
                </a:solidFill>
                <a:latin typeface="Segoe UI"/>
              </a:rPr>
              <a:t>•  Early Phase 3: online signup, Razorpay, plan catalog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A2E50"/>
                </a:solidFill>
                <a:latin typeface="Segoe UI"/>
              </a:rPr>
              <a:t>•  DinePro first version built (data model, APIs, dashboard)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000" b="1">
                <a:solidFill>
                  <a:srgbClr val="1E88E5"/>
                </a:solidFill>
                <a:latin typeface="Segoe UI"/>
              </a:rPr>
              <a:t>PENDING WORK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A2E50"/>
                </a:solidFill>
                <a:latin typeface="Segoe UI"/>
              </a:rPr>
              <a:t>•  Owner data isolation in the classic admin console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A2E50"/>
                </a:solidFill>
                <a:latin typeface="Segoe UI"/>
              </a:rPr>
              <a:t>•  Email verification and password reset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A2E50"/>
                </a:solidFill>
                <a:latin typeface="Segoe UI"/>
              </a:rPr>
              <a:t>•  Multi-location QR for the classic product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A2E50"/>
                </a:solidFill>
                <a:latin typeface="Segoe UI"/>
              </a:rPr>
              <a:t>•  DinePro: admin restaurant picker, real-time floor, bulk QR ZIP/PDF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A2E50"/>
                </a:solidFill>
                <a:latin typeface="Segoe UI"/>
              </a:rPr>
              <a:t>•  DinePro: real-data testing, commit and deploy</a:t>
            </a:r>
          </a:p>
        </p:txBody>
      </p:sp>
      <p:pic>
        <p:nvPicPr>
          <p:cNvPr id="10" name="Picture 9" descr="08-admin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3448" y="1280160"/>
            <a:ext cx="3803904" cy="2377440"/>
          </a:xfrm>
          <a:prstGeom prst="rect">
            <a:avLst/>
          </a:prstGeom>
          <a:ln w="9525">
            <a:solidFill>
              <a:srgbClr val="D5DEE7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6126480" y="3712464"/>
            <a:ext cx="557784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/>
            <a:r>
              <a:rPr sz="900" b="0">
                <a:solidFill>
                  <a:srgbClr val="5A6B7C"/>
                </a:solidFill>
                <a:latin typeface="Segoe UI"/>
              </a:rPr>
              <a:t>Admin dashboard: KPIs, 14-day activity, billing status  (/admin)</a:t>
            </a:r>
          </a:p>
        </p:txBody>
      </p:sp>
      <p:pic>
        <p:nvPicPr>
          <p:cNvPr id="12" name="Picture 11" descr="13-dinepro-analytic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2904" y="3977639"/>
            <a:ext cx="3364992" cy="2103120"/>
          </a:xfrm>
          <a:prstGeom prst="rect">
            <a:avLst/>
          </a:prstGeom>
          <a:ln w="9525">
            <a:solidFill>
              <a:srgbClr val="D5DEE7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6126480" y="6135623"/>
            <a:ext cx="557784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/>
            <a:r>
              <a:rPr sz="900" b="0">
                <a:solidFill>
                  <a:srgbClr val="5A6B7C"/>
                </a:solidFill>
                <a:latin typeface="Segoe UI"/>
              </a:rPr>
              <a:t>DinePro analytics with sample counts  (/admin/dinepro/analytics)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1">
                <a:solidFill>
                  <a:srgbClr val="1E88E5"/>
                </a:solidFill>
                <a:latin typeface="Segoe UI"/>
              </a:rPr>
              <a:t>SLIDE 6 — DEMO &amp; 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"/>
            <a:ext cx="1124712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600" b="1">
                <a:solidFill>
                  <a:srgbClr val="0A2E50"/>
                </a:solidFill>
                <a:latin typeface="Segoe UI"/>
              </a:rPr>
              <a:t>Live demo plan and what comes next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56248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900" b="0">
                <a:solidFill>
                  <a:srgbClr val="5A6B7C"/>
                </a:solidFill>
                <a:latin typeface="Segoe UI"/>
              </a:rPr>
              <a:t>Commiters trustTap  ·  Product walkthrough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556248"/>
            <a:ext cx="1399032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900" b="0">
                <a:solidFill>
                  <a:srgbClr val="5A6B7C"/>
                </a:solidFill>
                <a:latin typeface="Segoe UI"/>
              </a:rPr>
              <a:t>6 /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34440"/>
            <a:ext cx="5669280" cy="51206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000" b="1">
                <a:solidFill>
                  <a:srgbClr val="1E88E5"/>
                </a:solidFill>
                <a:latin typeface="Segoe UI"/>
              </a:rPr>
              <a:t>3–5 MINUTE DEMO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A2E50"/>
                </a:solidFill>
                <a:latin typeface="Segoe UI"/>
              </a:rPr>
              <a:t>•  Homepage → pricing (30s)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A2E50"/>
                </a:solidFill>
                <a:latin typeface="Segoe UI"/>
              </a:rPr>
              <a:t>•  QR page on phone → Google button (30s)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A2E50"/>
                </a:solidFill>
                <a:latin typeface="Segoe UI"/>
              </a:rPr>
              <a:t>•  Submit 2★ private feedback → show alert log/email (1 min)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A2E50"/>
                </a:solidFill>
                <a:latin typeface="Segoe UI"/>
              </a:rPr>
              <a:t>•  Admin dashboard → Businesses → QR / CSV / invoice (1 min)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A2E50"/>
                </a:solidFill>
                <a:latin typeface="Segoe UI"/>
              </a:rPr>
              <a:t>•  DinePro: setup → QR Manager → guest form → Live Floor &amp; issues (1–1.5 min)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000" b="1">
                <a:solidFill>
                  <a:srgbClr val="1E88E5"/>
                </a:solidFill>
                <a:latin typeface="Segoe UI"/>
              </a:rPr>
              <a:t>ROADMAP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A2E50"/>
                </a:solidFill>
                <a:latin typeface="Segoe UI"/>
              </a:rPr>
              <a:t>•  Phase 3: merchant accounts, self-serve dashboard, multi-location QR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A2E50"/>
                </a:solidFill>
                <a:latin typeface="Segoe UI"/>
              </a:rPr>
              <a:t>•  Phase 4: WhatsApp weekly digest, AI sentiment (Gemini), Google profile health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A2E50"/>
                </a:solidFill>
                <a:latin typeface="Segoe UI"/>
              </a:rPr>
              <a:t>•  Phase 4: analytics dashboard, competitor snapshot, white-label &amp; webhooks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000" b="1">
                <a:solidFill>
                  <a:srgbClr val="1E88E5"/>
                </a:solidFill>
                <a:latin typeface="Segoe UI"/>
              </a:rPr>
              <a:t>Q&amp;A POINTS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A2E50"/>
                </a:solidFill>
                <a:latin typeface="Segoe UI"/>
              </a:rPr>
              <a:t>•  Doesn’t stop bad Google reviews — gives early private warning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A2E50"/>
                </a:solidFill>
                <a:latin typeface="Segoe UI"/>
              </a:rPr>
              <a:t>•  WhatsApp/SMS needs Twilio configured; demo mode only logs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A2E50"/>
                </a:solidFill>
                <a:latin typeface="Segoe UI"/>
              </a:rPr>
              <a:t>•  Name/phone optional · rate limit is in-memory (Redis at scale)</a:t>
            </a:r>
          </a:p>
        </p:txBody>
      </p:sp>
      <p:pic>
        <p:nvPicPr>
          <p:cNvPr id="10" name="Picture 9" descr="11-dinepro-live-flo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280160"/>
            <a:ext cx="3886200" cy="2428875"/>
          </a:xfrm>
          <a:prstGeom prst="rect">
            <a:avLst/>
          </a:prstGeom>
          <a:ln w="9525">
            <a:solidFill>
              <a:srgbClr val="D5DEE7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6309360" y="3763899"/>
            <a:ext cx="388620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/>
            <a:r>
              <a:rPr sz="900" b="0">
                <a:solidFill>
                  <a:srgbClr val="5A6B7C"/>
                </a:solidFill>
                <a:latin typeface="Segoe UI"/>
              </a:rPr>
              <a:t>DinePro Live Floor with table details  (/admin/dinepro/floor)</a:t>
            </a:r>
          </a:p>
        </p:txBody>
      </p:sp>
      <p:pic>
        <p:nvPicPr>
          <p:cNvPr id="12" name="Picture 11" descr="04-mobile-h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8440" y="1280160"/>
            <a:ext cx="1371600" cy="2968283"/>
          </a:xfrm>
          <a:prstGeom prst="rect">
            <a:avLst/>
          </a:prstGeom>
          <a:ln w="9525">
            <a:solidFill>
              <a:srgbClr val="D5DEE7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10378440" y="4303307"/>
            <a:ext cx="137160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/>
            <a:r>
              <a:rPr sz="900" b="0">
                <a:solidFill>
                  <a:srgbClr val="5A6B7C"/>
                </a:solidFill>
                <a:latin typeface="Segoe UI"/>
              </a:rPr>
              <a:t>Responsive homepage on mobile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